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handoutMasterIdLst>
    <p:handoutMasterId r:id="rId6"/>
  </p:handoutMasterIdLst>
  <p:sldIdLst>
    <p:sldId id="257" r:id="rId3"/>
    <p:sldId id="258" r:id="rId4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icamonIce" initials="K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tableStyles" Target="tableStyles.xml"/><Relationship Id="rId8" Type="http://schemas.openxmlformats.org/officeDocument/2006/relationships/viewProps" Target="viewProps.xml"/><Relationship Id="rId7" Type="http://schemas.openxmlformats.org/officeDocument/2006/relationships/presProps" Target="presProps.xml"/><Relationship Id="rId6" Type="http://schemas.openxmlformats.org/officeDocument/2006/relationships/handoutMaster" Target="handoutMasters/handoutMaster1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0" Type="http://schemas.openxmlformats.org/officeDocument/2006/relationships/commentAuthors" Target="commentAuthors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3751117"/>
            <a:ext cx="7321550" cy="811357"/>
          </a:xfrm>
        </p:spPr>
        <p:txBody>
          <a:bodyPr anchor="b">
            <a:normAutofit/>
          </a:bodyPr>
          <a:lstStyle>
            <a:lvl1pPr>
              <a:defRPr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24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8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307592"/>
            <a:ext cx="9144000" cy="1772603"/>
          </a:xfrm>
        </p:spPr>
        <p:txBody>
          <a:bodyPr>
            <a:noAutofit/>
          </a:bodyPr>
          <a:lstStyle/>
          <a:p>
            <a:r>
              <a:rPr lang="en-US" altLang="zh-CN" b="1" dirty="0">
                <a:latin typeface="微软雅黑" panose="020B0503020204020204" charset="-122"/>
                <a:ea typeface="微软雅黑" panose="020B0503020204020204" charset="-122"/>
              </a:rPr>
              <a:t>Data Structure Tutorial</a:t>
            </a:r>
            <a:endParaRPr lang="en-US" altLang="zh-CN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260035"/>
            <a:ext cx="9144000" cy="2767054"/>
          </a:xfrm>
        </p:spPr>
        <p:txBody>
          <a:bodyPr>
            <a:normAutofit/>
          </a:bodyPr>
          <a:lstStyle/>
          <a:p>
            <a:endParaRPr lang="en-US" altLang="zh-CN" dirty="0">
              <a:latin typeface="Franklin Gothic Medium" panose="020B0603020102020204" charset="0"/>
            </a:endParaRPr>
          </a:p>
          <a:p>
            <a:r>
              <a:rPr lang="en-US" altLang="zh-CN" dirty="0" err="1">
                <a:latin typeface="Franklin Gothic Medium" panose="020B0603020102020204" charset="0"/>
              </a:rPr>
              <a:t>Kicamon Ice</a:t>
            </a:r>
            <a:endParaRPr lang="en-US" altLang="zh-CN" dirty="0">
              <a:latin typeface="Franklin Gothic Medium" panose="020B0603020102020204" charset="0"/>
            </a:endParaRPr>
          </a:p>
          <a:p>
            <a:r>
              <a:rPr lang="en-US" altLang="zh-CN" dirty="0">
                <a:latin typeface="Courier" pitchFamily="2" charset="0"/>
              </a:rPr>
              <a:t>kicamonice@qq.com</a:t>
            </a:r>
            <a:endParaRPr lang="en-US" altLang="zh-CN" dirty="0">
              <a:latin typeface="Courier" pitchFamily="2" charset="0"/>
            </a:endParaRPr>
          </a:p>
          <a:p>
            <a:r>
              <a:rPr lang="en-US" altLang="zh-CN" sz="1800" dirty="0">
                <a:latin typeface="Courier" pitchFamily="2" charset="0"/>
              </a:rPr>
              <a:t>https://github.com/Kicamon/Note</a:t>
            </a:r>
            <a:endParaRPr lang="en-US" altLang="zh-CN" sz="1800" dirty="0">
              <a:latin typeface="Courier" pitchFamily="2" charset="0"/>
            </a:endParaRPr>
          </a:p>
          <a:p>
            <a:endParaRPr lang="en-US" altLang="zh-CN" dirty="0">
              <a:latin typeface="Franklin Gothic Medium" panose="020B060302010202020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椭圆 3"/>
          <p:cNvSpPr/>
          <p:nvPr/>
        </p:nvSpPr>
        <p:spPr>
          <a:xfrm>
            <a:off x="6790055" y="0"/>
            <a:ext cx="10817225" cy="6859270"/>
          </a:xfrm>
          <a:prstGeom prst="ellipse">
            <a:avLst/>
          </a:prstGeom>
          <a:blipFill rotWithShape="1">
            <a:blip r:embed="rId1"/>
            <a:stretch>
              <a:fillRect/>
            </a:stretch>
          </a:blipFill>
          <a:ln>
            <a:solidFill>
              <a:schemeClr val="bg1"/>
            </a:solidFill>
          </a:ln>
          <a:effectLst>
            <a:softEdge rad="63500"/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1727200" y="957580"/>
            <a:ext cx="337756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6000" b="1">
                <a:latin typeface="思源黑体" panose="020B0500000000000000" charset="-122"/>
                <a:ea typeface="思源黑体" panose="020B0500000000000000" charset="-122"/>
              </a:rPr>
              <a:t>课程特点</a:t>
            </a:r>
            <a:endParaRPr lang="zh-CN" altLang="en-US" sz="6000" b="1">
              <a:latin typeface="思源黑体" panose="020B0500000000000000" charset="-122"/>
              <a:ea typeface="思源黑体" panose="020B0500000000000000" charset="-122"/>
            </a:endParaRPr>
          </a:p>
        </p:txBody>
      </p:sp>
      <p:sp>
        <p:nvSpPr>
          <p:cNvPr id="8" name="任意多边形 7"/>
          <p:cNvSpPr/>
          <p:nvPr/>
        </p:nvSpPr>
        <p:spPr>
          <a:xfrm>
            <a:off x="1430020" y="2233930"/>
            <a:ext cx="3883025" cy="62230"/>
          </a:xfrm>
          <a:custGeom>
            <a:avLst/>
            <a:gdLst>
              <a:gd name="connisteX0" fmla="*/ 0 w 3883025"/>
              <a:gd name="connsiteY0" fmla="*/ 36830 h 62197"/>
              <a:gd name="connisteX1" fmla="*/ 535940 w 3883025"/>
              <a:gd name="connsiteY1" fmla="*/ 42545 h 62197"/>
              <a:gd name="connisteX2" fmla="*/ 926465 w 3883025"/>
              <a:gd name="connsiteY2" fmla="*/ 0 h 62197"/>
              <a:gd name="connisteX3" fmla="*/ 1536065 w 3883025"/>
              <a:gd name="connsiteY3" fmla="*/ 42545 h 62197"/>
              <a:gd name="connisteX4" fmla="*/ 2078355 w 3883025"/>
              <a:gd name="connsiteY4" fmla="*/ 60960 h 62197"/>
              <a:gd name="connisteX5" fmla="*/ 2785745 w 3883025"/>
              <a:gd name="connsiteY5" fmla="*/ 18415 h 62197"/>
              <a:gd name="connisteX6" fmla="*/ 3371215 w 3883025"/>
              <a:gd name="connsiteY6" fmla="*/ 24765 h 62197"/>
              <a:gd name="connisteX7" fmla="*/ 3632835 w 3883025"/>
              <a:gd name="connsiteY7" fmla="*/ 55245 h 62197"/>
              <a:gd name="connisteX8" fmla="*/ 3883025 w 3883025"/>
              <a:gd name="connsiteY8" fmla="*/ 36830 h 62197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l" t="t" r="r" b="b"/>
            <a:pathLst>
              <a:path w="3883025" h="62198">
                <a:moveTo>
                  <a:pt x="0" y="36830"/>
                </a:moveTo>
                <a:cubicBezTo>
                  <a:pt x="99060" y="38735"/>
                  <a:pt x="350520" y="50165"/>
                  <a:pt x="535940" y="42545"/>
                </a:cubicBezTo>
                <a:cubicBezTo>
                  <a:pt x="721360" y="34925"/>
                  <a:pt x="726440" y="0"/>
                  <a:pt x="926465" y="0"/>
                </a:cubicBezTo>
                <a:cubicBezTo>
                  <a:pt x="1126490" y="0"/>
                  <a:pt x="1305560" y="30480"/>
                  <a:pt x="1536065" y="42545"/>
                </a:cubicBezTo>
                <a:cubicBezTo>
                  <a:pt x="1766570" y="54610"/>
                  <a:pt x="1828165" y="66040"/>
                  <a:pt x="2078355" y="60960"/>
                </a:cubicBezTo>
                <a:cubicBezTo>
                  <a:pt x="2328545" y="55880"/>
                  <a:pt x="2527300" y="25400"/>
                  <a:pt x="2785745" y="18415"/>
                </a:cubicBezTo>
                <a:cubicBezTo>
                  <a:pt x="3044190" y="11430"/>
                  <a:pt x="3201670" y="17145"/>
                  <a:pt x="3371215" y="24765"/>
                </a:cubicBezTo>
                <a:cubicBezTo>
                  <a:pt x="3540760" y="32385"/>
                  <a:pt x="3530600" y="52705"/>
                  <a:pt x="3632835" y="55245"/>
                </a:cubicBezTo>
                <a:cubicBezTo>
                  <a:pt x="3735070" y="57785"/>
                  <a:pt x="3837940" y="41275"/>
                  <a:pt x="3883025" y="36830"/>
                </a:cubicBezTo>
              </a:path>
            </a:pathLst>
          </a:custGeom>
          <a:solidFill>
            <a:schemeClr val="accent6"/>
          </a:solidFill>
          <a:ln w="44450" cap="rnd">
            <a:solidFill>
              <a:schemeClr val="accent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1664970" y="2693035"/>
            <a:ext cx="3749040" cy="31921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zh-CN" altLang="en-US" sz="280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使用</a:t>
            </a:r>
            <a:r>
              <a:rPr lang="en-US" altLang="zh-CN" sz="280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C/C++</a:t>
            </a:r>
            <a:r>
              <a:rPr lang="zh-CN" altLang="en-US" sz="280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语言</a:t>
            </a:r>
            <a:endParaRPr lang="zh-CN" altLang="en-US" sz="2800">
              <a:latin typeface="楷体" panose="02010609060101010101" charset="-122"/>
              <a:ea typeface="楷体" panose="02010609060101010101" charset="-122"/>
              <a:cs typeface="楷体" panose="02010609060101010101" charset="-122"/>
            </a:endParaRPr>
          </a:p>
          <a:p>
            <a:pPr marL="285750" indent="-28575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zh-CN" altLang="en-US" sz="280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图片</a:t>
            </a:r>
            <a:r>
              <a:rPr lang="en-US" altLang="zh-CN" sz="280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+</a:t>
            </a:r>
            <a:r>
              <a:rPr lang="zh-CN" altLang="en-US" sz="280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动画讲解原理</a:t>
            </a:r>
            <a:endParaRPr lang="zh-CN" altLang="en-US" sz="2800">
              <a:latin typeface="楷体" panose="02010609060101010101" charset="-122"/>
              <a:ea typeface="楷体" panose="02010609060101010101" charset="-122"/>
              <a:cs typeface="楷体" panose="02010609060101010101" charset="-122"/>
            </a:endParaRPr>
          </a:p>
          <a:p>
            <a:pPr marL="285750" indent="-28575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zh-CN" altLang="en-US" sz="280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代码实现讲解</a:t>
            </a:r>
            <a:endParaRPr lang="zh-CN" altLang="en-US" sz="2800">
              <a:latin typeface="楷体" panose="02010609060101010101" charset="-122"/>
              <a:ea typeface="楷体" panose="02010609060101010101" charset="-122"/>
              <a:cs typeface="楷体" panose="02010609060101010101" charset="-122"/>
            </a:endParaRPr>
          </a:p>
          <a:p>
            <a:pPr marL="285750" indent="-28575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zh-CN" altLang="en-US" sz="280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题目应用</a:t>
            </a:r>
            <a:endParaRPr lang="zh-CN" altLang="en-US" sz="2800">
              <a:latin typeface="楷体" panose="02010609060101010101" charset="-122"/>
              <a:ea typeface="楷体" panose="02010609060101010101" charset="-122"/>
              <a:cs typeface="楷体" panose="02010609060101010101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115</Words>
  <Application>WPS 演示</Application>
  <PresentationFormat>宽屏</PresentationFormat>
  <Paragraphs>14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5" baseType="lpstr">
      <vt:lpstr>Arial</vt:lpstr>
      <vt:lpstr>宋体</vt:lpstr>
      <vt:lpstr>Wingdings</vt:lpstr>
      <vt:lpstr>微软雅黑</vt:lpstr>
      <vt:lpstr>Franklin Gothic Medium</vt:lpstr>
      <vt:lpstr>Courier</vt:lpstr>
      <vt:lpstr>Courier New</vt:lpstr>
      <vt:lpstr>思源黑体</vt:lpstr>
      <vt:lpstr>楷体</vt:lpstr>
      <vt:lpstr>Arial Unicode MS</vt:lpstr>
      <vt:lpstr>Calibri Light</vt:lpstr>
      <vt:lpstr>Calibri</vt:lpstr>
      <vt:lpstr>WPS</vt:lpstr>
      <vt:lpstr>Data Structure Tutorial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KicamonIce</dc:creator>
  <cp:lastModifiedBy>纪华梦</cp:lastModifiedBy>
  <cp:revision>9</cp:revision>
  <dcterms:created xsi:type="dcterms:W3CDTF">2025-08-09T17:47:40Z</dcterms:created>
  <dcterms:modified xsi:type="dcterms:W3CDTF">2025-08-09T17:47:40Z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2052-12.1.0.17900</vt:lpwstr>
  </property>
  <property fmtid="{D5CDD505-2E9C-101B-9397-08002B2CF9AE}" pid="3" name="ICV">
    <vt:lpwstr>1E28527C2D7C4C6DD4C79668086C5F6F_41</vt:lpwstr>
  </property>
</Properties>
</file>