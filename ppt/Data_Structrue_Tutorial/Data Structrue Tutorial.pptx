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3"/>
    <p:sldId id="258" r:id="rId4"/>
    <p:sldId id="259" r:id="rId5"/>
    <p:sldId id="260" r:id="rId6"/>
    <p:sldId id="265" r:id="rId7"/>
    <p:sldId id="267" r:id="rId8"/>
    <p:sldId id="268" r:id="rId9"/>
    <p:sldId id="271" r:id="rId10"/>
    <p:sldId id="272" r:id="rId11"/>
    <p:sldId id="273" r:id="rId12"/>
    <p:sldId id="274" r:id="rId13"/>
    <p:sldId id="275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5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camonIce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BBE7"/>
    <a:srgbClr val="282828"/>
    <a:srgbClr val="F5FD1F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250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Data Structure Tutorial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charset="0"/>
            </a:endParaRPr>
          </a:p>
          <a:p>
            <a:r>
              <a:rPr lang="en-US" altLang="zh-CN" dirty="0" err="1">
                <a:latin typeface="Franklin Gothic Medium" panose="020B0603020102020204" charset="0"/>
              </a:rPr>
              <a:t>Kicamon Ice</a:t>
            </a:r>
            <a:endParaRPr lang="en-US" altLang="zh-CN" dirty="0">
              <a:latin typeface="Franklin Gothic Medium" panose="020B0603020102020204" charset="0"/>
            </a:endParaRPr>
          </a:p>
          <a:p>
            <a:r>
              <a:rPr lang="en-US" altLang="zh-CN" dirty="0">
                <a:latin typeface="Courier" pitchFamily="2" charset="0"/>
              </a:rPr>
              <a:t>kicamonice@qq.com</a:t>
            </a:r>
            <a:endParaRPr lang="en-US" altLang="zh-CN" dirty="0">
              <a:latin typeface="Courier" pitchFamily="2" charset="0"/>
            </a:endParaRPr>
          </a:p>
          <a:p>
            <a:r>
              <a:rPr lang="en-US" altLang="zh-CN" sz="1800" dirty="0">
                <a:latin typeface="Courier" pitchFamily="2" charset="0"/>
              </a:rPr>
              <a:t>https://github.com/Kicamon</a:t>
            </a:r>
            <a:endParaRPr lang="en-US" altLang="zh-CN" sz="1800" dirty="0">
              <a:latin typeface="Courier" pitchFamily="2" charset="0"/>
            </a:endParaRPr>
          </a:p>
          <a:p>
            <a:endParaRPr lang="en-US" altLang="zh-CN" dirty="0">
              <a:latin typeface="Franklin Gothic Medium" panose="020B06030201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6718935" y="0"/>
            <a:ext cx="10817225" cy="685927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727200" y="957580"/>
            <a:ext cx="3377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latin typeface="思源黑体" panose="020B0500000000000000" charset="-122"/>
                <a:ea typeface="思源黑体" panose="020B0500000000000000" charset="-122"/>
              </a:rPr>
              <a:t>课程特点</a:t>
            </a:r>
            <a:endParaRPr lang="zh-CN" altLang="en-US" sz="6000" b="1"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1430020" y="2233930"/>
            <a:ext cx="3883025" cy="62230"/>
          </a:xfrm>
          <a:custGeom>
            <a:avLst/>
            <a:gdLst>
              <a:gd name="connisteX0" fmla="*/ 0 w 3883025"/>
              <a:gd name="connsiteY0" fmla="*/ 36830 h 62197"/>
              <a:gd name="connisteX1" fmla="*/ 535940 w 3883025"/>
              <a:gd name="connsiteY1" fmla="*/ 42545 h 62197"/>
              <a:gd name="connisteX2" fmla="*/ 926465 w 3883025"/>
              <a:gd name="connsiteY2" fmla="*/ 0 h 62197"/>
              <a:gd name="connisteX3" fmla="*/ 1536065 w 3883025"/>
              <a:gd name="connsiteY3" fmla="*/ 42545 h 62197"/>
              <a:gd name="connisteX4" fmla="*/ 2078355 w 3883025"/>
              <a:gd name="connsiteY4" fmla="*/ 60960 h 62197"/>
              <a:gd name="connisteX5" fmla="*/ 2785745 w 3883025"/>
              <a:gd name="connsiteY5" fmla="*/ 18415 h 62197"/>
              <a:gd name="connisteX6" fmla="*/ 3371215 w 3883025"/>
              <a:gd name="connsiteY6" fmla="*/ 24765 h 62197"/>
              <a:gd name="connisteX7" fmla="*/ 3632835 w 3883025"/>
              <a:gd name="connsiteY7" fmla="*/ 55245 h 62197"/>
              <a:gd name="connisteX8" fmla="*/ 3883025 w 3883025"/>
              <a:gd name="connsiteY8" fmla="*/ 36830 h 621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883025" h="62198">
                <a:moveTo>
                  <a:pt x="0" y="36830"/>
                </a:moveTo>
                <a:cubicBezTo>
                  <a:pt x="99060" y="38735"/>
                  <a:pt x="350520" y="50165"/>
                  <a:pt x="535940" y="42545"/>
                </a:cubicBezTo>
                <a:cubicBezTo>
                  <a:pt x="721360" y="34925"/>
                  <a:pt x="726440" y="0"/>
                  <a:pt x="926465" y="0"/>
                </a:cubicBezTo>
                <a:cubicBezTo>
                  <a:pt x="1126490" y="0"/>
                  <a:pt x="1305560" y="30480"/>
                  <a:pt x="1536065" y="42545"/>
                </a:cubicBezTo>
                <a:cubicBezTo>
                  <a:pt x="1766570" y="54610"/>
                  <a:pt x="1828165" y="66040"/>
                  <a:pt x="2078355" y="60960"/>
                </a:cubicBezTo>
                <a:cubicBezTo>
                  <a:pt x="2328545" y="55880"/>
                  <a:pt x="2527300" y="25400"/>
                  <a:pt x="2785745" y="18415"/>
                </a:cubicBezTo>
                <a:cubicBezTo>
                  <a:pt x="3044190" y="11430"/>
                  <a:pt x="3201670" y="17145"/>
                  <a:pt x="3371215" y="24765"/>
                </a:cubicBezTo>
                <a:cubicBezTo>
                  <a:pt x="3540760" y="32385"/>
                  <a:pt x="3530600" y="52705"/>
                  <a:pt x="3632835" y="55245"/>
                </a:cubicBezTo>
                <a:cubicBezTo>
                  <a:pt x="3735070" y="57785"/>
                  <a:pt x="3837940" y="41275"/>
                  <a:pt x="3883025" y="36830"/>
                </a:cubicBezTo>
              </a:path>
            </a:pathLst>
          </a:custGeom>
          <a:solidFill>
            <a:schemeClr val="accent6"/>
          </a:solidFill>
          <a:ln w="44450" cap="rnd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64970" y="2693035"/>
            <a:ext cx="374904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使用</a:t>
            </a: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C/C++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语言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64970" y="3622040"/>
            <a:ext cx="3830955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lvl="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图片+动画讲解原理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4970" y="4551045"/>
            <a:ext cx="333756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代码实现讲解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64970" y="5480050"/>
            <a:ext cx="258191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题目应用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标题 12"/>
          <p:cNvSpPr>
            <a:spLocks noGrp="1"/>
          </p:cNvSpPr>
          <p:nvPr>
            <p:ph type="ctrTitle"/>
          </p:nvPr>
        </p:nvSpPr>
        <p:spPr>
          <a:xfrm>
            <a:off x="4215765" y="2542540"/>
            <a:ext cx="3759835" cy="1772920"/>
          </a:xfrm>
        </p:spPr>
        <p:txBody>
          <a:bodyPr>
            <a:noAutofit/>
          </a:bodyPr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  <a:t>Stack</a:t>
            </a:r>
            <a:endParaRPr lang="en-US" altLang="zh-CN" sz="6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88390" y="7226935"/>
            <a:ext cx="346329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栈（stack）是一种“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后进先出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”（LIFO）的数据结构，它是一种运算受限的线性表，只允许在一端进行插入和删除元素的操作，这一端被称为栈顶(top)。另一端称为栈底(bottom)。向栈中添加元素称为入栈（push），移除元素称为出栈（pop）。﻿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2543155" y="216535"/>
            <a:ext cx="4204970" cy="6036310"/>
            <a:chOff x="10480" y="341"/>
            <a:chExt cx="6622" cy="9506"/>
          </a:xfrm>
        </p:grpSpPr>
        <p:grpSp>
          <p:nvGrpSpPr>
            <p:cNvPr id="48" name="组合 47"/>
            <p:cNvGrpSpPr/>
            <p:nvPr/>
          </p:nvGrpSpPr>
          <p:grpSpPr>
            <a:xfrm>
              <a:off x="10480" y="341"/>
              <a:ext cx="6622" cy="9506"/>
              <a:chOff x="10480" y="341"/>
              <a:chExt cx="6622" cy="9506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10623" y="954"/>
                <a:ext cx="6337" cy="8893"/>
              </a:xfrm>
              <a:prstGeom prst="rect">
                <a:avLst/>
              </a:prstGeom>
              <a:noFill/>
              <a:ln w="73025"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0480" y="341"/>
                <a:ext cx="6622" cy="12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1" name="圆角矩形 50"/>
            <p:cNvSpPr/>
            <p:nvPr/>
          </p:nvSpPr>
          <p:spPr>
            <a:xfrm>
              <a:off x="10766" y="8075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10766" y="6211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圆角矩形 52"/>
            <p:cNvSpPr/>
            <p:nvPr/>
          </p:nvSpPr>
          <p:spPr>
            <a:xfrm>
              <a:off x="10766" y="4347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27430" y="792480"/>
            <a:ext cx="125349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</a:rPr>
              <a:t>栈</a:t>
            </a:r>
            <a:r>
              <a:rPr lang="zh-CN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j-cs"/>
              </a:rPr>
              <a:t>：</a:t>
            </a:r>
            <a:endParaRPr lang="en-US" altLang="zh-C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54800" y="216535"/>
            <a:ext cx="4204970" cy="6036310"/>
            <a:chOff x="10480" y="341"/>
            <a:chExt cx="6622" cy="9506"/>
          </a:xfrm>
        </p:grpSpPr>
        <p:grpSp>
          <p:nvGrpSpPr>
            <p:cNvPr id="8" name="组合 7"/>
            <p:cNvGrpSpPr/>
            <p:nvPr/>
          </p:nvGrpSpPr>
          <p:grpSpPr>
            <a:xfrm>
              <a:off x="10480" y="341"/>
              <a:ext cx="6622" cy="9506"/>
              <a:chOff x="10480" y="341"/>
              <a:chExt cx="6622" cy="950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0623" y="954"/>
                <a:ext cx="6337" cy="8893"/>
              </a:xfrm>
              <a:prstGeom prst="rect">
                <a:avLst/>
              </a:prstGeom>
              <a:noFill/>
              <a:ln w="73025"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0480" y="341"/>
                <a:ext cx="6622" cy="12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" name="圆角矩形 8"/>
            <p:cNvSpPr/>
            <p:nvPr/>
          </p:nvSpPr>
          <p:spPr>
            <a:xfrm>
              <a:off x="10766" y="8075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0766" y="6211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0766" y="4347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标题 12"/>
          <p:cNvSpPr>
            <a:spLocks noGrp="1"/>
          </p:cNvSpPr>
          <p:nvPr>
            <p:ph type="ctrTitle"/>
          </p:nvPr>
        </p:nvSpPr>
        <p:spPr>
          <a:xfrm>
            <a:off x="1417320" y="605790"/>
            <a:ext cx="3759835" cy="1772920"/>
          </a:xfrm>
        </p:spPr>
        <p:txBody>
          <a:bodyPr>
            <a:noAutofit/>
          </a:bodyPr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  <a:t>Stack</a:t>
            </a:r>
            <a:endParaRPr lang="en-US" altLang="zh-CN" sz="6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88390" y="2378710"/>
            <a:ext cx="346329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栈（stack）是一种“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后进先出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”（LIFO）的数据结构，它是一种运算受限的线性表，只允许在一端进行插入和删除元素的操作，这一端被称为栈顶(top)。另一端称为栈底(bottom)。向栈中添加元素称为入栈（push），移除元素称为出栈（pop）。﻿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6654800" y="216535"/>
            <a:ext cx="4204970" cy="6036310"/>
            <a:chOff x="10480" y="341"/>
            <a:chExt cx="6622" cy="9506"/>
          </a:xfrm>
        </p:grpSpPr>
        <p:grpSp>
          <p:nvGrpSpPr>
            <p:cNvPr id="20" name="组合 19"/>
            <p:cNvGrpSpPr/>
            <p:nvPr/>
          </p:nvGrpSpPr>
          <p:grpSpPr>
            <a:xfrm>
              <a:off x="10480" y="341"/>
              <a:ext cx="6622" cy="9506"/>
              <a:chOff x="10480" y="341"/>
              <a:chExt cx="6622" cy="9506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0623" y="954"/>
                <a:ext cx="6337" cy="8893"/>
              </a:xfrm>
              <a:prstGeom prst="rect">
                <a:avLst/>
              </a:prstGeom>
              <a:noFill/>
              <a:ln w="73025"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0480" y="341"/>
                <a:ext cx="6622" cy="12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3" name="圆角矩形 22"/>
            <p:cNvSpPr/>
            <p:nvPr/>
          </p:nvSpPr>
          <p:spPr>
            <a:xfrm>
              <a:off x="10766" y="8075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10766" y="6211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0766" y="4347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左箭头 25"/>
          <p:cNvSpPr/>
          <p:nvPr/>
        </p:nvSpPr>
        <p:spPr>
          <a:xfrm>
            <a:off x="4776470" y="5389245"/>
            <a:ext cx="1718945" cy="776605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618615" y="5516880"/>
            <a:ext cx="2763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栈底（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bottom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左箭头 27"/>
          <p:cNvSpPr/>
          <p:nvPr/>
        </p:nvSpPr>
        <p:spPr>
          <a:xfrm>
            <a:off x="4776470" y="1163320"/>
            <a:ext cx="1718945" cy="776605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569210" y="1290955"/>
            <a:ext cx="2763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栈顶（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568575" y="1291590"/>
            <a:ext cx="2763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栈顶（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  <p:bldP spid="29" grpId="0"/>
      <p:bldP spid="3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1316990" y="216535"/>
            <a:ext cx="4204970" cy="6036310"/>
            <a:chOff x="10480" y="341"/>
            <a:chExt cx="6622" cy="9506"/>
          </a:xfrm>
        </p:grpSpPr>
        <p:grpSp>
          <p:nvGrpSpPr>
            <p:cNvPr id="20" name="组合 19"/>
            <p:cNvGrpSpPr/>
            <p:nvPr/>
          </p:nvGrpSpPr>
          <p:grpSpPr>
            <a:xfrm>
              <a:off x="10480" y="341"/>
              <a:ext cx="6622" cy="9506"/>
              <a:chOff x="10480" y="341"/>
              <a:chExt cx="6622" cy="9506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0623" y="954"/>
                <a:ext cx="6337" cy="8893"/>
              </a:xfrm>
              <a:prstGeom prst="rect">
                <a:avLst/>
              </a:prstGeom>
              <a:noFill/>
              <a:ln w="73025"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0480" y="341"/>
                <a:ext cx="6622" cy="12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3" name="圆角矩形 22"/>
            <p:cNvSpPr/>
            <p:nvPr/>
          </p:nvSpPr>
          <p:spPr>
            <a:xfrm>
              <a:off x="10766" y="8075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10766" y="6211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0766" y="4347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圆角矩形 1"/>
          <p:cNvSpPr/>
          <p:nvPr/>
        </p:nvSpPr>
        <p:spPr>
          <a:xfrm>
            <a:off x="7020560" y="5127625"/>
            <a:ext cx="3851910" cy="1038225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20560" y="1113790"/>
            <a:ext cx="38519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入栈（</a:t>
            </a:r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push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）：将元素压入</a:t>
            </a:r>
            <a:r>
              <a:rPr lang="zh-CN" altLang="en-US" sz="4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栈顶</a:t>
            </a:r>
            <a:endParaRPr lang="zh-CN" altLang="en-US" sz="4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374 -0.0712035 L 0.000156253 -0.083148 L 0.00182292 -0.0994475 L 0.00348959 -0.117319 L 0.00348959 -0.129262 L 0.00515626 -0.150097 L 0.00682292 -0.166392 L 0.00682292 -0.185743 L 0.00682292 -0.206577 L 0.00682292 -0.227409 L 0.00682292 -0.239355 L 0.00682292 -0.255652 L 0.00682292 -0.277966 L 0.00515626 -0.28991 L 0.00515626 -0.306299 L 0.00432292 -0.319632 L 0.00432292 -0.330095 L 0.00265626 -0.344909 L 0.00265626 -0.356854 L 0.00182292 -0.367225 L 0.000989586 -0.377685 L 0.000989586 -0.389537 L -0.00067708 -0.401482 L -0.00234374 -0.413335 L -0.00234374 -0.423798 L -0.00317708 -0.435649 L -0.00656249 -0.462501 L -0.00822916 -0.477317 L -0.00906249 -0.49815 L -0.0123958 -0.523427 L -0.0148958 -0.53537 L -0.0157291 -0.551763 L -0.0174479 -0.563614 L -0.0199479 -0.578521 L -0.0216146 -0.588892 L -0.0232812 -0.599355 L -0.0257812 -0.614168 L -0.0266146 -0.624633 L -0.0291667 -0.635001 L -0.0316666 -0.645464 L -0.0341667 -0.658799 L -0.0366666 -0.670742 L -0.04 -0.68417 L -0.0417187 -0.694539 L -0.0442187 -0.705002 L -0.0467187 -0.715374 L -0.0525521 -0.725743 L -0.0584375 -0.731761 L -0.0651042 -0.736205 L -0.0718229 -0.739167 L -0.0810417 -0.742132 L -0.086875 -0.743614 L -0.0960937 -0.743614 L -0.101927 -0.743614 L -0.108646 -0.743614 L -0.114479 -0.743614 L -0.121198 -0.742132 L -0.127031 -0.742132 L -0.134583 -0.742132 L -0.140417 -0.742132 L -0.146302 -0.742132 L -0.153802 -0.742132 L -0.160521 -0.742132 L -0.166406 -0.740649 L -0.17224 -0.739167 L -0.178073 -0.739167 L -0.183958 -0.736205 L -0.189792 -0.736205 L -0.195677 -0.736205 L -0.202344 -0.736205 L -0.208229 -0.736205 L -0.214063 -0.736205 L -0.220781 -0.736205 L -0.227448 -0.736205 L -0.233333 -0.739167 L -0.24 -0.739167 L -0.245885 -0.739167 L -0.251719 -0.740649 L -0.257604 -0.740649 L -0.263438 -0.743614 L -0.27099 -0.743614 L -0.277656 -0.743614 L -0.283542 -0.743614 L -0.290208 -0.746576 L -0.296094 -0.746576 L -0.301927 -0.746576 L -0.307813 -0.743614 L -0.313646 -0.742132 L -0.319531 -0.739167 L -0.325365 -0.734724 L -0.33125 -0.73028 L -0.337917 -0.725743 L -0.344635 -0.719818 L -0.352136 -0.715374 L -0.358854 -0.709445 L -0.364688 -0.706483 L -0.370573 -0.703427 L -0.37724 -0.700464 L -0.383125 -0.696021 L -0.389792 -0.687133 L -0.39651 -0.676667 L -0.402344 -0.670742 L -0.408229 -0.657318 L -0.414063 -0.645464 L -0.419115 -0.635001 L -0.424115 -0.624633 L -0.428281 -0.614168 L -0.433333 -0.602318 L -0.435 -0.591855 L -0.4375 -0.581484 L -0.440833 -0.569539 L -0.444219 -0.55917 L -0.448386 -0.547224 L -0.450886 -0.536855 L -0.452552 -0.526392 L -0.453386 -0.516021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" y="-33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/>
        </p:nvGrpSpPr>
        <p:grpSpPr>
          <a:xfrm>
            <a:off x="1316990" y="216535"/>
            <a:ext cx="4204970" cy="6036310"/>
            <a:chOff x="10480" y="341"/>
            <a:chExt cx="6622" cy="9506"/>
          </a:xfrm>
        </p:grpSpPr>
        <p:grpSp>
          <p:nvGrpSpPr>
            <p:cNvPr id="20" name="组合 19"/>
            <p:cNvGrpSpPr/>
            <p:nvPr/>
          </p:nvGrpSpPr>
          <p:grpSpPr>
            <a:xfrm>
              <a:off x="10480" y="341"/>
              <a:ext cx="6622" cy="9506"/>
              <a:chOff x="10480" y="341"/>
              <a:chExt cx="6622" cy="9506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0623" y="954"/>
                <a:ext cx="6337" cy="8893"/>
              </a:xfrm>
              <a:prstGeom prst="rect">
                <a:avLst/>
              </a:prstGeom>
              <a:noFill/>
              <a:ln w="73025">
                <a:solidFill>
                  <a:schemeClr val="accent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0480" y="341"/>
                <a:ext cx="6622" cy="12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3" name="圆角矩形 22"/>
            <p:cNvSpPr/>
            <p:nvPr/>
          </p:nvSpPr>
          <p:spPr>
            <a:xfrm>
              <a:off x="10766" y="8075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10766" y="6211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0766" y="4347"/>
              <a:ext cx="6066" cy="1635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498600" y="1576705"/>
            <a:ext cx="3851910" cy="1038225"/>
          </a:xfrm>
          <a:prstGeom prst="round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020560" y="1113790"/>
            <a:ext cx="42494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出栈（</a:t>
            </a:r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pop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）：将元素从</a:t>
            </a:r>
            <a:r>
              <a:rPr lang="zh-CN" altLang="en-US" sz="4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栈顶</a:t>
            </a:r>
            <a:r>
              <a:rPr lang="zh-CN" altLang="en-US" sz="4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弹出</a:t>
            </a:r>
            <a:endParaRPr lang="zh-CN" altLang="en-US" sz="4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7175e-05 0.0249516 L 0.000948885 0.0134839 L 0.0029101 -0.00112973 L 0.00487131 -0.0142211 L 0.00781314 -0.0304586 L 0.00879374 -0.0467974 L 0.00983563 -0.0631363 L 0.00983563 -0.0793737 L 0.0108163 -0.0924655 L 0.0108163 -0.105455 L 0.0108163 -0.116923 L 0.0117969 -0.131637 L 0.0127774 -0.144627 L 0.0127774 -0.156095 L 0.0127774 -0.167462 L 0.0127774 -0.178828 L 0.0137581 -0.191919 L 0.0147386 -0.203286 L 0.0147386 -0.214753 L 0.0157192 -0.226119 L 0.0176805 -0.237587 L 0.0246061 -0.240835 L 0.0324509 -0.244082 L 0.0413377 -0.248953 L 0.0482019 -0.2522 L 0.0590498 -0.257173 L 0.0678752 -0.257173 L 0.0806844 -0.260421 L 0.092513 -0.260421 L 0.100419 -0.260421 L 0.110225 -0.260421 L 0.124996 -0.260421 L 0.133882 -0.260421 L 0.14375 -0.260421 L 0.151594 -0.260421 L 0.159501 -0.260421 L 0.175251 -0.260421 L 0.186099 -0.260421 L 0.194925 -0.257173 L 0.203812 -0.257173 L 0.211657 -0.257173 L 0.220544 -0.257173 L 0.229369 -0.257173 L 0.238256 -0.253925 L 0.246162 -0.250577 L 0.254987 -0.250577 L 0.261912 -0.250577 L 0.268777 -0.247329 L 0.276683 -0.247329 L 0.293414 -0.245705 L 0.304263 -0.245705 L 0.311126 -0.245705 L 0.323937 -0.245705 L 0.3308 -0.242457 L 0.341649 -0.242457 L 0.348574 -0.242457 L 0.356419 -0.240835 L 0.363344 -0.240835 L 0.371189 -0.240835 L 0.380076 -0.237587 L 0.386939 -0.237587 L 0.393866 -0.235964 L 0.40073 -0.235964 L 0.407655 -0.235964 L 0.41452 -0.234339 L 0.421445 -0.231091 L 0.428309 -0.229469 L 0.436215 -0.227744 L 0.443081 -0.224496 L 0.449944 -0.218001 L 0.453927 -0.206634 L 0.45785 -0.195167 L 0.461773 -0.183801 L 0.464715 -0.17071 L 0.466737 -0.157719 L 0.468698 -0.146252 L 0.469679 -0.133261 L 0.472621 -0.113675 L 0.474582 -0.0973362 L 0.477523 -0.0745024 L 0.479485 -0.058265 L 0.479485 -0.0435499 L 0.479485 -0.0320823 L 0.479485 -0.0174686 L 0.479485 -0.00112973 L 0.481508 0.0134839 L 0.483468 0.0510329 L 0.483468 0.0754905 L 0.483468 0.0902056 L 0.483468 0.116287 L 0.48543 0.137496 L 0.48543 0.148863 L 0.48543 0.16845 L 0.48543 0.184687 L 0.48543 0.196155 L 0.48641 0.209145 L 0.48641 0.220613 L 0.48641 0.233602 L 0.48641 0.246694 L 0.488372 0.259784 L 0.488372 0.271151 L 0.488372 0.285867 L 0.488372 0.297232 L 0.488372 0.310324 L 0.488372 0.32169 L 0.490333 0.334782 L 0.490333 0.347771 L 0.490333 0.360862 L 0.490333 0.3771 L 0.490333 0.390192 L 0.490333 0.403182 L 0.490333 0.424392 L 0.490333 0.439106 L 0.489351 0.450473 L 0.489351 0.461941 L 0.489351 0.473306 L 0.488372 0.486399 L 0.487392 0.497764 L 0.48641 0.509232 L 0.48543 0.520598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" y="10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7712075" y="957580"/>
            <a:ext cx="3377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latin typeface="思源黑体" panose="020B0500000000000000" charset="-122"/>
                <a:ea typeface="思源黑体" panose="020B0500000000000000" charset="-122"/>
              </a:rPr>
              <a:t>代码实现</a:t>
            </a:r>
            <a:endParaRPr lang="zh-CN" altLang="en-US" sz="6000" b="1">
              <a:latin typeface="思源黑体" panose="020B0500000000000000" charset="-122"/>
              <a:ea typeface="思源黑体" panose="020B0500000000000000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7414895" y="2233930"/>
            <a:ext cx="3883025" cy="62230"/>
          </a:xfrm>
          <a:custGeom>
            <a:avLst/>
            <a:gdLst>
              <a:gd name="connisteX0" fmla="*/ 0 w 3883025"/>
              <a:gd name="connsiteY0" fmla="*/ 36830 h 62197"/>
              <a:gd name="connisteX1" fmla="*/ 535940 w 3883025"/>
              <a:gd name="connsiteY1" fmla="*/ 42545 h 62197"/>
              <a:gd name="connisteX2" fmla="*/ 926465 w 3883025"/>
              <a:gd name="connsiteY2" fmla="*/ 0 h 62197"/>
              <a:gd name="connisteX3" fmla="*/ 1536065 w 3883025"/>
              <a:gd name="connsiteY3" fmla="*/ 42545 h 62197"/>
              <a:gd name="connisteX4" fmla="*/ 2078355 w 3883025"/>
              <a:gd name="connsiteY4" fmla="*/ 60960 h 62197"/>
              <a:gd name="connisteX5" fmla="*/ 2785745 w 3883025"/>
              <a:gd name="connsiteY5" fmla="*/ 18415 h 62197"/>
              <a:gd name="connisteX6" fmla="*/ 3371215 w 3883025"/>
              <a:gd name="connsiteY6" fmla="*/ 24765 h 62197"/>
              <a:gd name="connisteX7" fmla="*/ 3632835 w 3883025"/>
              <a:gd name="connsiteY7" fmla="*/ 55245 h 62197"/>
              <a:gd name="connisteX8" fmla="*/ 3883025 w 3883025"/>
              <a:gd name="connsiteY8" fmla="*/ 36830 h 621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3883025" h="62198">
                <a:moveTo>
                  <a:pt x="0" y="36830"/>
                </a:moveTo>
                <a:cubicBezTo>
                  <a:pt x="99060" y="38735"/>
                  <a:pt x="350520" y="50165"/>
                  <a:pt x="535940" y="42545"/>
                </a:cubicBezTo>
                <a:cubicBezTo>
                  <a:pt x="721360" y="34925"/>
                  <a:pt x="726440" y="0"/>
                  <a:pt x="926465" y="0"/>
                </a:cubicBezTo>
                <a:cubicBezTo>
                  <a:pt x="1126490" y="0"/>
                  <a:pt x="1305560" y="30480"/>
                  <a:pt x="1536065" y="42545"/>
                </a:cubicBezTo>
                <a:cubicBezTo>
                  <a:pt x="1766570" y="54610"/>
                  <a:pt x="1828165" y="66040"/>
                  <a:pt x="2078355" y="60960"/>
                </a:cubicBezTo>
                <a:cubicBezTo>
                  <a:pt x="2328545" y="55880"/>
                  <a:pt x="2527300" y="25400"/>
                  <a:pt x="2785745" y="18415"/>
                </a:cubicBezTo>
                <a:cubicBezTo>
                  <a:pt x="3044190" y="11430"/>
                  <a:pt x="3201670" y="17145"/>
                  <a:pt x="3371215" y="24765"/>
                </a:cubicBezTo>
                <a:cubicBezTo>
                  <a:pt x="3540760" y="32385"/>
                  <a:pt x="3530600" y="52705"/>
                  <a:pt x="3632835" y="55245"/>
                </a:cubicBezTo>
                <a:cubicBezTo>
                  <a:pt x="3735070" y="57785"/>
                  <a:pt x="3837940" y="41275"/>
                  <a:pt x="3883025" y="36830"/>
                </a:cubicBezTo>
              </a:path>
            </a:pathLst>
          </a:custGeom>
          <a:solidFill>
            <a:schemeClr val="accent6"/>
          </a:solidFill>
          <a:ln w="44450" cap="rnd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49845" y="2693035"/>
            <a:ext cx="374904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语言数组模拟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49845" y="3622040"/>
            <a:ext cx="3830955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lvl="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语言结构体</a:t>
            </a:r>
            <a:endParaRPr lang="en-US" altLang="zh-CN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49845" y="4551045"/>
            <a:ext cx="333756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C++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模板类实现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-882015" y="-66675"/>
            <a:ext cx="8296910" cy="7776210"/>
          </a:xfrm>
          <a:custGeom>
            <a:avLst/>
            <a:gdLst>
              <a:gd name="connsiteX0" fmla="*/ 0 w 13066"/>
              <a:gd name="connsiteY0" fmla="*/ 0 h 12246"/>
              <a:gd name="connsiteX1" fmla="*/ 13066 w 13066"/>
              <a:gd name="connsiteY1" fmla="*/ 92 h 12246"/>
              <a:gd name="connsiteX2" fmla="*/ 9314 w 13066"/>
              <a:gd name="connsiteY2" fmla="*/ 11195 h 12246"/>
              <a:gd name="connsiteX3" fmla="*/ 0 w 13066"/>
              <a:gd name="connsiteY3" fmla="*/ 12246 h 12246"/>
              <a:gd name="connsiteX4" fmla="*/ 0 w 13066"/>
              <a:gd name="connsiteY4" fmla="*/ 0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66" h="12246">
                <a:moveTo>
                  <a:pt x="0" y="0"/>
                </a:moveTo>
                <a:lnTo>
                  <a:pt x="13066" y="92"/>
                </a:lnTo>
                <a:cubicBezTo>
                  <a:pt x="12540" y="8055"/>
                  <a:pt x="11481" y="7174"/>
                  <a:pt x="9314" y="11195"/>
                </a:cubicBezTo>
                <a:lnTo>
                  <a:pt x="0" y="12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85115" y="0"/>
            <a:ext cx="374904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语言数组模拟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265170" y="2924175"/>
            <a:ext cx="1418590" cy="1009650"/>
          </a:xfrm>
          <a:prstGeom prst="roundRect">
            <a:avLst/>
          </a:prstGeom>
          <a:solidFill>
            <a:srgbClr val="FFFF00"/>
          </a:solidFill>
          <a:ln w="73025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Head</a:t>
            </a:r>
            <a:endParaRPr lang="en-US" altLang="zh-CN" sz="2400" b="1">
              <a:solidFill>
                <a:schemeClr val="tx1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683760" y="2924175"/>
            <a:ext cx="1418590" cy="1009650"/>
          </a:xfrm>
          <a:prstGeom prst="roundRect">
            <a:avLst/>
          </a:prstGeom>
          <a:solidFill>
            <a:schemeClr val="bg1"/>
          </a:solidFill>
          <a:ln w="73025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102350" y="2924175"/>
            <a:ext cx="1418590" cy="1009650"/>
          </a:xfrm>
          <a:prstGeom prst="roundRect">
            <a:avLst/>
          </a:prstGeom>
          <a:solidFill>
            <a:schemeClr val="bg1"/>
          </a:solidFill>
          <a:ln w="73025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520940" y="2924175"/>
            <a:ext cx="1418590" cy="1009650"/>
          </a:xfrm>
          <a:prstGeom prst="roundRect">
            <a:avLst/>
          </a:prstGeom>
          <a:solidFill>
            <a:schemeClr val="bg1"/>
          </a:solidFill>
          <a:ln w="73025"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3615055" y="4214495"/>
            <a:ext cx="765810" cy="1095375"/>
            <a:chOff x="2141" y="6637"/>
            <a:chExt cx="1206" cy="1725"/>
          </a:xfrm>
        </p:grpSpPr>
        <p:sp>
          <p:nvSpPr>
            <p:cNvPr id="15" name="上箭头 14"/>
            <p:cNvSpPr/>
            <p:nvPr/>
          </p:nvSpPr>
          <p:spPr>
            <a:xfrm>
              <a:off x="2553" y="6637"/>
              <a:ext cx="307" cy="845"/>
            </a:xfrm>
            <a:prstGeom prst="up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141" y="7540"/>
              <a:ext cx="120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latin typeface="Comic Sans MS" panose="030F0702030302020204" charset="0"/>
                  <a:cs typeface="Comic Sans MS" panose="030F0702030302020204" charset="0"/>
                </a:rPr>
                <a:t>idx</a:t>
              </a:r>
              <a:endParaRPr lang="en-US" altLang="zh-CN" sz="28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020" y="1815465"/>
            <a:ext cx="4251960" cy="3227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2708 0 L 0.115521 0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fd1f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781 0 L 0.231562 0 " pathEditMode="relative" rAng="0" ptsTypes="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fd1f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276 0 L 0.347448 0 " pathEditMode="relative" rAng="0" ptsTypes="">
                                      <p:cBhvr>
                                        <p:cTn id="2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fd1f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7396 -0.00111111 L 0.232917 -0.00111111 " pathEditMode="relative" rAng="0" ptsTypes="">
                                      <p:cBhvr>
                                        <p:cTn id="3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1927 0.000740888 L 0.114844 0.000740888 " pathEditMode="relative" rAng="0" ptsTypes="">
                                      <p:cBhvr>
                                        <p:cTn id="4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479 0.000833354 L -0.00166667 0.000833354 " pathEditMode="relative" rAng="0" ptsTypes="">
                                      <p:cBhvr>
                                        <p:cTn id="4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375" y="1360170"/>
            <a:ext cx="6445885" cy="48933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85115" y="0"/>
            <a:ext cx="374904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语言数组模拟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16425" y="1395730"/>
            <a:ext cx="666115" cy="417830"/>
          </a:xfrm>
          <a:prstGeom prst="rect">
            <a:avLst/>
          </a:prstGeom>
          <a:noFill/>
          <a:ln w="539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85115" y="0"/>
            <a:ext cx="374904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语言结构体实现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553845" y="2557145"/>
            <a:ext cx="1901825" cy="1962785"/>
          </a:xfrm>
          <a:prstGeom prst="roundRect">
            <a:avLst/>
          </a:prstGeom>
          <a:solidFill>
            <a:srgbClr val="85BB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指针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281295" y="2557145"/>
            <a:ext cx="1901825" cy="1962150"/>
          </a:xfrm>
          <a:prstGeom prst="roundRect">
            <a:avLst/>
          </a:prstGeom>
          <a:solidFill>
            <a:srgbClr val="85BB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结构体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008745" y="2557145"/>
            <a:ext cx="1901825" cy="1962150"/>
          </a:xfrm>
          <a:prstGeom prst="roundRect">
            <a:avLst/>
          </a:prstGeom>
          <a:solidFill>
            <a:srgbClr val="85BB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内存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WPS 演示</Application>
  <PresentationFormat>宽屏</PresentationFormat>
  <Paragraphs>61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Franklin Gothic Medium</vt:lpstr>
      <vt:lpstr>Courier</vt:lpstr>
      <vt:lpstr>Courier New</vt:lpstr>
      <vt:lpstr>思源黑体</vt:lpstr>
      <vt:lpstr>楷体</vt:lpstr>
      <vt:lpstr>Arial Unicode MS</vt:lpstr>
      <vt:lpstr>Calibri Light</vt:lpstr>
      <vt:lpstr>Calibri</vt:lpstr>
      <vt:lpstr>文泉驿微米黑</vt:lpstr>
      <vt:lpstr>汉仪曾翔童趣体 W</vt:lpstr>
      <vt:lpstr>Comic Sans MS</vt:lpstr>
      <vt:lpstr>微软雅黑 Light</vt:lpstr>
      <vt:lpstr>仿宋</vt:lpstr>
      <vt:lpstr>AR PL UKai CN</vt:lpstr>
      <vt:lpstr>文泉驿等宽正黑</vt:lpstr>
      <vt:lpstr>AR PL New Kai</vt:lpstr>
      <vt:lpstr>Adobe Courier</vt:lpstr>
      <vt:lpstr>Ligconsolata</vt:lpstr>
      <vt:lpstr>Arial Black</vt:lpstr>
      <vt:lpstr>Bitstream Charter</vt:lpstr>
      <vt:lpstr>Candara Light</vt:lpstr>
      <vt:lpstr>Candara</vt:lpstr>
      <vt:lpstr>DejaVu Sans Light</vt:lpstr>
      <vt:lpstr>思源宋体 CN Heavy</vt:lpstr>
      <vt:lpstr>AR PL New Sung Mono</vt:lpstr>
      <vt:lpstr>Adobe Helvetica</vt:lpstr>
      <vt:lpstr>Adwaita Mono</vt:lpstr>
      <vt:lpstr>Cambria Math</vt:lpstr>
      <vt:lpstr>CodeNewRoman Nerd Font Propo</vt:lpstr>
      <vt:lpstr>DejaVu Serif Condensed</vt:lpstr>
      <vt:lpstr>Ebrima</vt:lpstr>
      <vt:lpstr>FiraCode Nerd Font Mono Med</vt:lpstr>
      <vt:lpstr>WPS</vt:lpstr>
      <vt:lpstr>Data Structure Tutorial</vt:lpstr>
      <vt:lpstr>PowerPoint 演示文稿</vt:lpstr>
      <vt:lpstr>Data Structure Tutorial</vt:lpstr>
      <vt:lpstr>Stack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KicamonIce</dc:creator>
  <cp:lastModifiedBy>纪华梦</cp:lastModifiedBy>
  <cp:revision>29</cp:revision>
  <dcterms:created xsi:type="dcterms:W3CDTF">2025-08-09T20:38:26Z</dcterms:created>
  <dcterms:modified xsi:type="dcterms:W3CDTF">2025-08-09T20:38:26Z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1E28527C2D7C4C6DD4C79668086C5F6F_41</vt:lpwstr>
  </property>
</Properties>
</file>